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d69fd151774ff7" /><Relationship Type="http://schemas.openxmlformats.org/officeDocument/2006/relationships/extended-properties" Target="/docProps/app.xml" Id="Rb49cf25d186c4127" /><Relationship Type="http://schemas.openxmlformats.org/officeDocument/2006/relationships/officeDocument" Target="/ppt/presentation.xml" Id="Rb4064a1bb14944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eff296b2ee4fa3"/>
  </p:sldMasterIdLst>
  <p:notesMasterIdLst>
    <p:notesMasterId xmlns:r="http://schemas.openxmlformats.org/officeDocument/2006/relationships" r:id="Rb34a6e48bd254138"/>
  </p:notesMasterIdLst>
  <p:sldIdLst>
    <p:sldId xmlns:r="http://schemas.openxmlformats.org/officeDocument/2006/relationships" id="256" r:id="R3fe7c17fecf84328"/>
    <p:sldId xmlns:r="http://schemas.openxmlformats.org/officeDocument/2006/relationships" id="257" r:id="Rc82b630b70474b4a"/>
    <p:sldId xmlns:r="http://schemas.openxmlformats.org/officeDocument/2006/relationships" id="258" r:id="R77aa9a2e29c94d66"/>
    <p:sldId xmlns:r="http://schemas.openxmlformats.org/officeDocument/2006/relationships" id="259" r:id="Rc9c6025fdb6940fb"/>
    <p:sldId xmlns:r="http://schemas.openxmlformats.org/officeDocument/2006/relationships" id="260" r:id="R7b25d10535e24eb5"/>
    <p:sldId xmlns:r="http://schemas.openxmlformats.org/officeDocument/2006/relationships" id="261" r:id="R99b64df0f7fd4ebd"/>
    <p:sldId xmlns:r="http://schemas.openxmlformats.org/officeDocument/2006/relationships" id="262" r:id="R7a130ce528df404c"/>
    <p:sldId xmlns:r="http://schemas.openxmlformats.org/officeDocument/2006/relationships" id="263" r:id="R212c717dda5b40e6"/>
    <p:sldId xmlns:r="http://schemas.openxmlformats.org/officeDocument/2006/relationships" id="264" r:id="R6042fa067d80401f"/>
    <p:sldId xmlns:r="http://schemas.openxmlformats.org/officeDocument/2006/relationships" id="265" r:id="R8fc462406abf4b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ca25a2f4fa4d83" /><Relationship Type="http://schemas.openxmlformats.org/officeDocument/2006/relationships/slideMaster" Target="/ppt/slideMasters/slideMaster1.xml" Id="R58eff296b2ee4fa3" /><Relationship Type="http://schemas.openxmlformats.org/officeDocument/2006/relationships/notesMaster" Target="/ppt/notesMasters/notesMaster1.xml" Id="Rb34a6e48bd254138" /><Relationship Type="http://schemas.openxmlformats.org/officeDocument/2006/relationships/presProps" Target="/ppt/presProps.xml" Id="Ra98b3d9282524e86" /><Relationship Type="http://schemas.openxmlformats.org/officeDocument/2006/relationships/tableStyles" Target="/ppt/tableStyles.xml" Id="Rf7b240b432144359" /><Relationship Type="http://schemas.openxmlformats.org/officeDocument/2006/relationships/slide" Target="/ppt/slides/slide1.xml" Id="R3fe7c17fecf84328" /><Relationship Type="http://schemas.openxmlformats.org/officeDocument/2006/relationships/slide" Target="/ppt/slides/slide2.xml" Id="Rc82b630b70474b4a" /><Relationship Type="http://schemas.openxmlformats.org/officeDocument/2006/relationships/slide" Target="/ppt/slides/slide3.xml" Id="R77aa9a2e29c94d66" /><Relationship Type="http://schemas.openxmlformats.org/officeDocument/2006/relationships/slide" Target="/ppt/slides/slide4.xml" Id="Rc9c6025fdb6940fb" /><Relationship Type="http://schemas.openxmlformats.org/officeDocument/2006/relationships/slide" Target="/ppt/slides/slide5.xml" Id="R7b25d10535e24eb5" /><Relationship Type="http://schemas.openxmlformats.org/officeDocument/2006/relationships/slide" Target="/ppt/slides/slide6.xml" Id="R99b64df0f7fd4ebd" /><Relationship Type="http://schemas.openxmlformats.org/officeDocument/2006/relationships/slide" Target="/ppt/slides/slide7.xml" Id="R7a130ce528df404c" /><Relationship Type="http://schemas.openxmlformats.org/officeDocument/2006/relationships/slide" Target="/ppt/slides/slide8.xml" Id="R212c717dda5b40e6" /><Relationship Type="http://schemas.openxmlformats.org/officeDocument/2006/relationships/slide" Target="/ppt/slides/slide9.xml" Id="R6042fa067d80401f" /><Relationship Type="http://schemas.openxmlformats.org/officeDocument/2006/relationships/slide" Target="/ppt/slides/slide10.xml" Id="R8fc462406abf4b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8be74f49e542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79b8563a9c414e" /><Relationship Type="http://schemas.openxmlformats.org/officeDocument/2006/relationships/notesMaster" Target="/ppt/notesMasters/notesMaster1.xml" Id="Rbaa431a2959242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799d45b7e9477e" /><Relationship Type="http://schemas.openxmlformats.org/officeDocument/2006/relationships/notesMaster" Target="/ppt/notesMasters/notesMaster1.xml" Id="Rb4fe782513f940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87bd1e4e8546c1" /><Relationship Type="http://schemas.openxmlformats.org/officeDocument/2006/relationships/notesMaster" Target="/ppt/notesMasters/notesMaster1.xml" Id="R5153136b16cc4c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20369c6af548b1" /><Relationship Type="http://schemas.openxmlformats.org/officeDocument/2006/relationships/notesMaster" Target="/ppt/notesMasters/notesMaster1.xml" Id="R55a1dadb8d2c4b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8ff924c2d74f3b" /><Relationship Type="http://schemas.openxmlformats.org/officeDocument/2006/relationships/notesMaster" Target="/ppt/notesMasters/notesMaster1.xml" Id="Rbc2d6b172f8b48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5dc66ac00c4c5d" /><Relationship Type="http://schemas.openxmlformats.org/officeDocument/2006/relationships/notesMaster" Target="/ppt/notesMasters/notesMaster1.xml" Id="R72f71c27f1e942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aa4c467255484e" /><Relationship Type="http://schemas.openxmlformats.org/officeDocument/2006/relationships/notesMaster" Target="/ppt/notesMasters/notesMaster1.xml" Id="Ra153a70827514e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23a6388fad4c33" /><Relationship Type="http://schemas.openxmlformats.org/officeDocument/2006/relationships/notesMaster" Target="/ppt/notesMasters/notesMaster1.xml" Id="Re77e6c21c63849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4ebdd1ff024e57" /><Relationship Type="http://schemas.openxmlformats.org/officeDocument/2006/relationships/notesMaster" Target="/ppt/notesMasters/notesMaster1.xml" Id="Rb620cae4ed6f44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d6e337125f4216" /><Relationship Type="http://schemas.openxmlformats.org/officeDocument/2006/relationships/notesMaster" Target="/ppt/notesMasters/notesMaster1.xml" Id="R316d9114d1004e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the team, roll number, and section fields before submitting. The horse sample photo is CC0: https://commons.wikimedia.org/wiki/File:Horse_in_a_pen.jpg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included sample photos are independent domain examples, not a paired dataset. Horse image: https://commons.wikimedia.org/wiki/File:Horse_in_a_pen.jpg. Zebra image: https://commons.wikimedia.org/wiki/File:Zebra_at_the_zoo.jpg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follows the CycleGAN paper and the official PyTorch implementation. Zhu et al., ICCV 2017: https://arxiv.org/abs/1703.10593. Code: https://github.com/junyanz/pytorch-CycleGAN-and-pix2pix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archive: https://efrosgans.eecs.berkeley.edu/cyclegan/datasets/horse2zebra.zip. Official implementation preprocessing uses RGB, resize to 256 square at test time, tensor conversion and 0.5 normalization.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pretrained architecture: 9-block ResNet generator, 64 base channels, instance normalization and tanh output. Pix2Pix is paired and typically uses a U-Net plus PatchGAN; it is described for comparison but no Pix2Pix checkpoint is shipped.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Pretrained checkpoints are hosted at https://efrosgans.eecs.berkeley.edu/cyclegan/pretrained_models/ . The original repo provides PyTorch implementations; upstream code is BSD 3-Clause. Checkpoint archive does not provide a separate model-card license.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sample was generated on CPU using the official Berkeley pretrained checkpoint in this project, from a CC0 image by Jojovavasasa: https://commons.wikimedia.org/wiki/File:Horse_in_a_pen.jpg. The measured generator inference time was 0.632 seconds. One example does not prove general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3877890ebe4f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3a1b32d8a74a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60c5bddca4f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09c1f7632c4f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7ece281ab44f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67cfc29a0b42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59FC50-198C-4EC5-9FEC-8C2E049AE4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343740C-A573-473F-94D4-84BFF3CF60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BAD7F9B-9105-4D9E-9AE2-DD88F68851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7E3386-2A4A-4EFD-8880-3696F4BF05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711CB57-4034-468F-97A7-90DF9E0EE3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10942A-E63F-42B4-9934-1E6B39DC93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6208E2-2395-43D8-AD73-0C26C053EB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C2DB958-E1A8-440F-9BE8-B8EADD2CF1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9C0739-249A-4223-A038-8C3D869B9C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95DCC1-3676-455B-B88C-C7B093E865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7ffe1592ad4be4" /><Relationship Type="http://schemas.openxmlformats.org/officeDocument/2006/relationships/slideLayout" Target="/ppt/slideLayouts/slideLayout1.xml" Id="R31805d0656644a8d" /><Relationship Type="http://schemas.openxmlformats.org/officeDocument/2006/relationships/slideLayout" Target="/ppt/slideLayouts/slideLayout2.xml" Id="R535ca2c1655041e1" /><Relationship Type="http://schemas.openxmlformats.org/officeDocument/2006/relationships/slideLayout" Target="/ppt/slideLayouts/slideLayout3.xml" Id="R356de2ca30bf4dc0" /><Relationship Type="http://schemas.openxmlformats.org/officeDocument/2006/relationships/slideLayout" Target="/ppt/slideLayouts/slideLayout4.xml" Id="R15197deb584e4dd5" /><Relationship Type="http://schemas.openxmlformats.org/officeDocument/2006/relationships/slideLayout" Target="/ppt/slideLayouts/slideLayout5.xml" Id="R11c57bc22ce1496a" /><Relationship Type="http://schemas.openxmlformats.org/officeDocument/2006/relationships/slideLayout" Target="/ppt/slideLayouts/slideLayout6.xml" Id="Rd906cb0576d54b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805d0656644a8d"/>
    <p:sldLayoutId xmlns:r="http://schemas.openxmlformats.org/officeDocument/2006/relationships" id="2147483650" r:id="R535ca2c1655041e1"/>
    <p:sldLayoutId xmlns:r="http://schemas.openxmlformats.org/officeDocument/2006/relationships" id="2147483651" r:id="R356de2ca30bf4dc0"/>
    <p:sldLayoutId xmlns:r="http://schemas.openxmlformats.org/officeDocument/2006/relationships" id="2147483652" r:id="R15197deb584e4dd5"/>
    <p:sldLayoutId xmlns:r="http://schemas.openxmlformats.org/officeDocument/2006/relationships" id="2147483653" r:id="R11c57bc22ce1496a"/>
    <p:sldLayoutId xmlns:r="http://schemas.openxmlformats.org/officeDocument/2006/relationships" id="2147483654" r:id="Rd906cb0576d54b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a925e4802d411d" /><Relationship Type="http://schemas.openxmlformats.org/officeDocument/2006/relationships/notesSlide" Target="/ppt/notesSlides/notesSlide1.xml" Id="Rfc41edca414148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41360cdc934b54" /><Relationship Type="http://schemas.openxmlformats.org/officeDocument/2006/relationships/notesSlide" Target="/ppt/notesSlides/notesSlide2.xml" Id="Rf9225f0e5ae540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064a7c0b9945af" /><Relationship Type="http://schemas.openxmlformats.org/officeDocument/2006/relationships/notesSlide" Target="/ppt/notesSlides/notesSlide3.xml" Id="Rce7f974655ec45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779c3f33e84eb6" /><Relationship Type="http://schemas.openxmlformats.org/officeDocument/2006/relationships/notesSlide" Target="/ppt/notesSlides/notesSlide4.xml" Id="Rdff7b2a3128340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36963e3070489d" /><Relationship Type="http://schemas.openxmlformats.org/officeDocument/2006/relationships/notesSlide" Target="/ppt/notesSlides/notesSlide5.xml" Id="Rd8364f6fad344b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2f56f568694948" /><Relationship Type="http://schemas.openxmlformats.org/officeDocument/2006/relationships/notesSlide" Target="/ppt/notesSlides/notesSlide6.xml" Id="R8d6c0b3681454d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aa7d4b06b1491b" /><Relationship Type="http://schemas.openxmlformats.org/officeDocument/2006/relationships/notesSlide" Target="/ppt/notesSlides/notesSlide7.xml" Id="R124a357936924c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eae7ddd0b945c5" /><Relationship Type="http://schemas.openxmlformats.org/officeDocument/2006/relationships/image" Target="/ppt/media/image.jpeg" Id="R9cc07d379e64443e" /><Relationship Type="http://schemas.openxmlformats.org/officeDocument/2006/relationships/image" Target="/ppt/media/image.png" Id="R78f46bc279d34a4f" /><Relationship Type="http://schemas.openxmlformats.org/officeDocument/2006/relationships/notesSlide" Target="/ppt/notesSlides/notesSlide8.xml" Id="R9d413b9055a244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067edb42284c8b" /><Relationship Type="http://schemas.openxmlformats.org/officeDocument/2006/relationships/notesSlide" Target="/ppt/notesSlides/notesSlide9.xml" Id="R85c9fa5b2e6444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89ccd91cd74004" /><Relationship Type="http://schemas.openxmlformats.org/officeDocument/2006/relationships/notesSlide" Target="/ppt/notesSlides/notesSlide10.xml" Id="Rf062404d528645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7B2FE-FFF3-4DBC-862B-D2E484089FA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668000" y="24288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A8FF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1043C-5F42-413B-86C2-DC3735D5BB1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63000" y="2428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A8FF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61C567-5D2D-4D99-8F3D-4DBE6DB8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20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A8FF"/>
                </a:solidFill>
                <a:latin typeface="Arial"/>
                <a:ea typeface="Arial"/>
                <a:cs typeface="Arial"/>
              </a:rPr>
              <a:t>DEEP LEARNING  /  CA-2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B860E-42E8-4268-955D-3EF4DA9F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638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>
            <a:defPPr algn="l">
              <a:defRPr sz="51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51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51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51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51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51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51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51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51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51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ImageLab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38218-6EB4-485F-8ECC-E506E5E3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Image-to-Image Translation 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E746C-1F35-495D-8534-9ECAE6AF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39BFF"/>
                </a:solidFill>
                <a:latin typeface="Arial"/>
                <a:ea typeface="Arial"/>
                <a:cs typeface="Arial"/>
              </a:rPr>
              <a:t>CycleGAN · Horse → Zebra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E1E89-CDF5-4AE3-8223-F8E7FC9A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581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Course: Deep Learning and GEN AI (CS312B)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Team: [Member names and roll numbers]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Section: [Section]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1222F-698B-4ACC-B5CC-5DCC4DA3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1524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41A26"/>
          </a:solidFill>
          <a:ln xmlns:a="http://schemas.openxmlformats.org/drawingml/2006/main" w="9525">
            <a:solidFill>
              <a:srgbClr val="71A8F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HORSE</a:t>
            </a:r>
          </a:p>
          <a:p xmlns:a="http://schemas.openxmlformats.org/drawingml/2006/main">
            <a: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PHOTOS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F5334-CB2D-440D-AF0F-35AE90C5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62150"/>
            <a:ext cx="1524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41A26"/>
          </a:solidFill>
          <a:ln xmlns:a="http://schemas.openxmlformats.org/drawingml/2006/main" w="9525">
            <a:solidFill>
              <a:srgbClr val="B39BF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99854"/>
          </a:bodyPr>
          <a:lstStyle xmlns:a="http://schemas.openxmlformats.org/drawingml/2006/main">
            <a:def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CYCLEGAN</a:t>
            </a:r>
          </a:p>
          <a:p xmlns:a="http://schemas.openxmlformats.org/drawingml/2006/main">
            <a: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G_AB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76056-0ED5-4FB0-B6A5-58816013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62150"/>
            <a:ext cx="10477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41A26"/>
          </a:solidFill>
          <a:ln xmlns:a="http://schemas.openxmlformats.org/drawingml/2006/main" w="9525">
            <a:solidFill>
              <a:srgbClr val="87D6B0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ZEBRA</a:t>
            </a:r>
          </a:p>
          <a:p xmlns:a="http://schemas.openxmlformats.org/drawingml/2006/main">
            <a:pPr algn="ctr">
              <a:defRPr sz="127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STYLE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C70ED-5D18-49DE-9709-D1D11BA0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Pretrained generator · PyTorch · CPU/CUDA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9806F-93BB-4BB0-A23F-28872A3E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979893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EE4648-208F-4993-BB91-9D3DE3FB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DFBC7-AEC3-4A3F-BEF1-5DC4796A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Problem and motivation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368C4-0EF9-4F3C-8E92-CE09CAFE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382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Translate visual style while keeping the scene structure recognizable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60033-FF13-4321-8E94-23F34406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8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DB2C8-56B5-4CFC-A50B-CD013D67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ImageLab AI  ·  CA-2  ·  CS312B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115DA-B515-4EB9-BB9C-2E015B70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CE0BA-E40A-4891-8B19-4D26F8BE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1A8FF"/>
                </a:solidFill>
                <a:latin typeface="Arial"/>
                <a:ea typeface="Arial"/>
                <a:cs typeface="Arial"/>
              </a:rPr>
              <a:t>The challenge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681DB-8574-49E7-B598-97C81F11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4857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Collecting aligned horse and zebra versions of the same scene is difficult. CycleGAN learns from two unpaired image collections instead.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C7946-FA02-4DD6-AF6A-472EA104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39BFF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B344F-94B3-4B71-946B-5064FF9E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Build a runnable studio that accepts an image, runs a real pretrained generator, displays the result, and explains the model’s limits.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3BCCB-01DD-406A-88A8-4486DEE2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2095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41A26"/>
          </a:solidFill>
          <a:ln xmlns:a="http://schemas.openxmlformats.org/drawingml/2006/main" w="9525">
            <a:solidFill>
              <a:srgbClr val="71A8F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DOMAIN A</a:t>
            </a:r>
          </a:p>
          <a:p xmlns:a="http://schemas.openxmlformats.org/drawingml/2006/main">
            <a: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Horse photographs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C6B14-F495-45F3-8AAD-F34FE2CB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289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700" b="0">
                <a:solidFill>
                  <a:srgbClr val="71A8FF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71A8FF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71A8FF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71A8FF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71A8FF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71A8FF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71A8FF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71A8FF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71A8FF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71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71A8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1A8FF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B958C-BE22-446F-B392-CD6BEC63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20574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41A26"/>
          </a:solidFill>
          <a:ln xmlns:a="http://schemas.openxmlformats.org/drawingml/2006/main" w="9525">
            <a:solidFill>
              <a:srgbClr val="B39BF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DOMAIN B</a:t>
            </a:r>
          </a:p>
          <a:p xmlns:a="http://schemas.openxmlformats.org/drawingml/2006/main">
            <a: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Zebra photographs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A194E-F5F3-4286-91F9-9CE38108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4914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Two independent collections; no matched image pairs are required.</a:t>
            </a:r>
          </a:p>
        </p:txBody>
      </p:sp>
    </p:spTree>
    <p:extLst>
      <p:ext uri="{BB962C8B-B14F-4D97-AF65-F5344CB8AC3E}">
        <p14:creationId xmlns:p14="http://schemas.microsoft.com/office/powerpoint/2010/main" val="698959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7BC5E2-3D4C-46CF-BBB5-B60B58CCCC12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9934575" y="3009900"/>
            <a:ext cx="1138238" cy="1343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BB4C5"/>
            </a:solidFill>
            <a:prstDash val="dash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6243DC-DB2A-430E-AA0C-9C5905EECCEF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6553200" y="3009900"/>
            <a:ext cx="95250" cy="1343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BB4C5"/>
            </a:solidFill>
            <a:prstDash val="dash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1E280-C08D-4CC6-8EA6-1C3B10137B35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191750" y="25527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A8FF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238E9-46ED-4ABE-A104-C54B01806A6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05700" y="255270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A8FF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1A4CC-4ED5-442B-8B7B-20851459366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29200" y="25527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A8FF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FE931-EC2F-49CA-9092-F55478FD988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57450" y="25527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A8FF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AF8BD3-4D80-4A3F-8375-4BF398FD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5D11C-389D-48F6-B158-BFE8453C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CycleGAN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3D1FF-1035-438B-A00B-87A8AF1E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382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Two generators translate in opposite directions; two discriminators judge domain realism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85C5C-41E3-47D6-9776-DDC7B9BD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8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C9968-7619-47C6-A105-2DEE5BC3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ImageLab AI  ·  CA-2  ·  CS312B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19A1D-9C66-4C48-8EB5-9AADCA13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7D083-06A8-4238-AF70-86F5E166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714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1A26"/>
          </a:solidFill>
          <a:ln xmlns:a="http://schemas.openxmlformats.org/drawingml/2006/main" w="9525">
            <a:solidFill>
              <a:srgbClr val="71A8F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Real horse</a:t>
            </a:r>
          </a:p>
          <a:p xmlns:a="http://schemas.openxmlformats.org/drawingml/2006/main">
            <a: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BEC03-DB82-49DF-A9BD-952F0D44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95500"/>
            <a:ext cx="1809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1A26"/>
          </a:solidFill>
          <a:ln xmlns:a="http://schemas.openxmlformats.org/drawingml/2006/main" w="9525">
            <a:solidFill>
              <a:srgbClr val="B39BF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Generator</a:t>
            </a:r>
          </a:p>
          <a:p xmlns:a="http://schemas.openxmlformats.org/drawingml/2006/main">
            <a: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G_AB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B25AD-0316-4E5B-A7E7-5C8829E0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95500"/>
            <a:ext cx="1714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1A26"/>
          </a:solidFill>
          <a:ln xmlns:a="http://schemas.openxmlformats.org/drawingml/2006/main" w="9525">
            <a:solidFill>
              <a:srgbClr val="71A8F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Fake zebra</a:t>
            </a:r>
          </a:p>
          <a:p xmlns:a="http://schemas.openxmlformats.org/drawingml/2006/main">
            <a: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B′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F3629-FEFE-4E5A-84EC-B8414984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1809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1A26"/>
          </a:solidFill>
          <a:ln xmlns:a="http://schemas.openxmlformats.org/drawingml/2006/main" w="9525">
            <a:solidFill>
              <a:srgbClr val="B39BF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Generator</a:t>
            </a:r>
          </a:p>
          <a:p xmlns:a="http://schemas.openxmlformats.org/drawingml/2006/main">
            <a:pPr algn="ctr">
              <a:defRPr sz="17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G_BA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B980A-038A-482B-9DEB-C6CDA272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95500"/>
            <a:ext cx="138112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1A26"/>
          </a:solidFill>
          <a:ln xmlns:a="http://schemas.openxmlformats.org/drawingml/2006/main" w="9525">
            <a:solidFill>
              <a:srgbClr val="87D6B0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98703"/>
          </a:bodyPr>
          <a:lstStyle xmlns:a="http://schemas.openxmlformats.org/drawingml/2006/main">
            <a:defPPr algn="ctr">
              <a:defRPr sz="14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Cycle output</a:t>
            </a:r>
          </a:p>
          <a:p xmlns:a="http://schemas.openxmlformats.org/drawingml/2006/main">
            <a:pPr algn="ctr">
              <a:defRPr sz="1425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horse A′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02239-55C8-4D73-A520-99B763BD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6707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7D6B0"/>
                </a:solidFill>
                <a:latin typeface="Arial"/>
                <a:ea typeface="Arial"/>
                <a:cs typeface="Arial"/>
              </a:rPr>
              <a:t>Cycle consistency:  G_BA(G_AB(A)) ≈ 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98A03E-A7FA-4377-9FBC-EF13BC59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352925"/>
            <a:ext cx="27241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A26"/>
          </a:solidFill>
          <a:ln xmlns:a="http://schemas.openxmlformats.org/drawingml/2006/main" w="9525">
            <a:solidFill>
              <a:srgbClr val="71A8F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Discriminator D_B</a:t>
            </a:r>
          </a:p>
          <a:p xmlns:a="http://schemas.openxmlformats.org/drawingml/2006/main">
            <a: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real vs fake zebra patches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83279-1895-4096-96C4-AC25C0CD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52925"/>
            <a:ext cx="27241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1A26"/>
          </a:solidFill>
          <a:ln xmlns:a="http://schemas.openxmlformats.org/drawingml/2006/main" w="9525">
            <a:solidFill>
              <a:srgbClr val="71A8F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Discriminator D_A</a:t>
            </a:r>
          </a:p>
          <a:p xmlns:a="http://schemas.openxmlformats.org/drawingml/2006/main">
            <a: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real vs fake horse patches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72BA4B-E21D-4C5D-8F56-3244D2D6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0"/>
            <a:ext cx="1042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The live app loads one generator for the selected direction. Local training includes both generators and both discriminators.</a:t>
            </a:r>
          </a:p>
        </p:txBody>
      </p:sp>
    </p:spTree>
    <p:extLst>
      <p:ext uri="{BB962C8B-B14F-4D97-AF65-F5344CB8AC3E}">
        <p14:creationId xmlns:p14="http://schemas.microsoft.com/office/powerpoint/2010/main" val="15556861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394EC-3F24-4571-A622-ECF9541E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D4C72-1F66-49C5-8644-9B40831D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Dataset and preprocessing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BB86C-92AD-40AE-A17C-D36809AF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382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Unpaired horse and zebra collections; no one-to-one image matching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91433-4817-462D-BDA5-6E79940F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8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AECB5-C107-4CA2-B79B-39A34968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ImageLab AI  ·  CA-2  ·  CS312B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B4732-27E7-4298-9656-B22F980B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9AAF7-DEF1-44B2-9797-EEB1C1B8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1A8FF"/>
                </a:solidFill>
                <a:latin typeface="Arial"/>
                <a:ea typeface="Arial"/>
                <a:cs typeface="Arial"/>
              </a:rPr>
              <a:t>Training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90EEE-EE17-4557-A1B0-6474302E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Horse2Zebra dataset from the original CycleGAN project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trainA / testA: horse images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trainB / testB: zebra images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The optional downloader fetches the archive only when training is requested.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51DE1-C6D1-4C05-A2C7-FB8BCAE2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43075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39BFF"/>
                </a:solidFill>
                <a:latin typeface="Arial"/>
                <a:ea typeface="Arial"/>
                <a:cs typeface="Arial"/>
              </a:rPr>
              <a:t>Preprocessing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36BF3-6F94-4C99-ACDA-EEF3EE81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762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1   EXIF orientation correction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2   Convert to RGB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3   Resize to 256 × 256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4   Convert pixels to tensors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5   Normalize RGB channels to [−1, 1]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6   Run generator; map tanh output back to RGB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C25B7-3C6B-43D9-99D8-7172E712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10125"/>
            <a:ext cx="3905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A2030"/>
          </a:solidFill>
          <a:ln xmlns:a="http://schemas.openxmlformats.org/drawingml/2006/main" w="9525">
            <a:solidFill>
              <a:srgbClr val="30384A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93689"/>
          </a:bodyPr>
          <a:lstStyle xmlns:a="http://schemas.openxmlformats.org/drawingml/2006/main">
            <a:defPPr algn="ctr">
              <a:defRPr sz="150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7D6B0"/>
                </a:solidFill>
                <a:latin typeface="Arial"/>
                <a:ea typeface="Arial"/>
                <a:cs typeface="Arial"/>
              </a:rPr>
              <a:t>Dataset download: ≈111 MB</a:t>
            </a:r>
          </a:p>
          <a:p xmlns:a="http://schemas.openxmlformats.org/drawingml/2006/main">
            <a:pPr algn="ctr">
              <a:defRPr sz="150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7D6B0"/>
                </a:solidFill>
                <a:latin typeface="Arial"/>
                <a:ea typeface="Arial"/>
                <a:cs typeface="Arial"/>
              </a:rPr>
              <a:t>Demo samples: &lt;1 MB total</a:t>
            </a:r>
          </a:p>
        </p:txBody>
      </p:sp>
    </p:spTree>
    <p:extLst>
      <p:ext uri="{BB962C8B-B14F-4D97-AF65-F5344CB8AC3E}">
        <p14:creationId xmlns:p14="http://schemas.microsoft.com/office/powerpoint/2010/main" val="13701978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17720-75B9-42F9-8398-1B1AB13D5659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315450" y="24574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A8FF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46F38-C7C0-4679-8E79-7E815BC2055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29450" y="24574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A8FF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15BA4-E737-4251-895D-9DD3C2C0C53E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743450" y="24574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A8FF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15478B-ABBB-45A2-BF99-BBD1BD53508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57450" y="24574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A8FF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FF373-FD1A-421A-A9E6-D66D2C82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292CE-D8D3-4D58-835C-50970D93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Generator architecture and learning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94B4C-1A6B-4C04-A785-34712E2A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382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ResNet generator for translation; PatchGAN discriminators for local realism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1BEB0-03E2-4F65-9FAE-A2FA5C9B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8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26B6D-8FD5-4EE6-91E2-D394A360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ImageLab AI  ·  CA-2  ·  CS312B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4824A-1562-4982-986D-A89815C5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F9E58-B638-4463-B2A7-55C20AA7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41A26"/>
          </a:solidFill>
          <a:ln xmlns:a="http://schemas.openxmlformats.org/drawingml/2006/main" w="9525">
            <a:solidFill>
              <a:srgbClr val="30384A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Input</a:t>
            </a:r>
          </a:p>
          <a:p xmlns:a="http://schemas.openxmlformats.org/drawingml/2006/main">
            <a: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3 × 256 × 256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71F38-456C-48FE-A0CB-D283604D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2405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41A26"/>
          </a:solidFill>
          <a:ln xmlns:a="http://schemas.openxmlformats.org/drawingml/2006/main" w="9525">
            <a:solidFill>
              <a:srgbClr val="30384A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84345"/>
          </a:bodyPr>
          <a:lstStyle xmlns:a="http://schemas.openxmlformats.org/drawingml/2006/main">
            <a:def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Encode</a:t>
            </a:r>
          </a:p>
          <a:p xmlns:a="http://schemas.openxmlformats.org/drawingml/2006/main">
            <a: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7 × 7 conv</a:t>
            </a:r>
          </a:p>
          <a:p xmlns:a="http://schemas.openxmlformats.org/drawingml/2006/main">
            <a: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2 downsample blocks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BAFCD-7D05-4CA1-ABC5-37FB3D68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2405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41A26"/>
          </a:solidFill>
          <a:ln xmlns:a="http://schemas.openxmlformats.org/drawingml/2006/main" w="9525">
            <a:solidFill>
              <a:srgbClr val="B39BF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Transform</a:t>
            </a:r>
          </a:p>
          <a:p xmlns:a="http://schemas.openxmlformats.org/drawingml/2006/main">
            <a:pPr algn="ctr">
              <a:defRPr sz="150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9 residual blocks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1D6D8-BA3D-470C-8F3B-287899D1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2405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41A26"/>
          </a:solidFill>
          <a:ln xmlns:a="http://schemas.openxmlformats.org/drawingml/2006/main" w="9525">
            <a:solidFill>
              <a:srgbClr val="30384A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Decode</a:t>
            </a:r>
          </a:p>
          <a:p xmlns:a="http://schemas.openxmlformats.org/drawingml/2006/main">
            <a: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2 upsample blocks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0784A-C67B-4AEE-AA56-16BB156A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2405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41A26"/>
          </a:solidFill>
          <a:ln xmlns:a="http://schemas.openxmlformats.org/drawingml/2006/main" w="9525">
            <a:solidFill>
              <a:srgbClr val="30384A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Output</a:t>
            </a:r>
          </a:p>
          <a:p xmlns:a="http://schemas.openxmlformats.org/drawingml/2006/main">
            <a: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3 × 256 × 256</a:t>
            </a:r>
          </a:p>
          <a:p xmlns:a="http://schemas.openxmlformats.org/drawingml/2006/main">
            <a:pPr algn="ctr">
              <a:defRPr sz="1500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tanh → [−1, 1]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71311-E87D-4B2F-937F-04A05519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1A8FF"/>
                </a:solidFill>
                <a:latin typeface="Arial"/>
                <a:ea typeface="Arial"/>
                <a:cs typeface="Arial"/>
              </a:rPr>
              <a:t>Loss terms used in optional local training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B39C6-A2C0-4A98-83A6-259F599B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1028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Adversarial  ·  translated patches should resemble the target domain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Cycle  ·  λ = 10; translate there and back to preserve input structure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Identity  ·  λ = 5; discourage unnecessary changes on target-domain images</a:t>
            </a:r>
          </a:p>
        </p:txBody>
      </p:sp>
    </p:spTree>
    <p:extLst>
      <p:ext uri="{BB962C8B-B14F-4D97-AF65-F5344CB8AC3E}">
        <p14:creationId xmlns:p14="http://schemas.microsoft.com/office/powerpoint/2010/main" val="10381845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87140-353B-4818-9CD2-AF92228D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A47D8-A102-4625-849B-45EC5C10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Implementation and training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5362A-067C-48B4-A2DE-D4ACB0B0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382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A ready pretrained inference path plus an optional, reproducible training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82AE7-1DB4-4E65-87B1-1472CD20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8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C3A87-2CE2-43B3-BC88-5DC0EBEA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ImageLab AI  ·  CA-2  ·  CS312B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E474C-4496-4046-A44E-44C7CDB3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3142F-5C49-4BDF-BBB6-7869BAF2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1A8FF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BE44E-4CCB-4620-9414-403525C0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4762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Official Berkeley pretrained weights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Loaded once and cached in Streamlit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torch.inference_mode()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CPU fallback; CUDA selected automatically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Strict state-dict key/shape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8C4B1-FC44-44E6-B643-F030A1F3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39BFF"/>
                </a:solidFill>
                <a:latin typeface="Arial"/>
                <a:ea typeface="Arial"/>
                <a:cs typeface="Arial"/>
              </a:rPr>
              <a:t>Optional 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7F68B-3E68-45A9-BF9D-DF85980B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57425"/>
            <a:ext cx="4762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200 epochs · batch size 1 · 256 px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Adam · learning rate 0.0002 · β₁ = 0.5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LSGAN + cycle loss + identity loss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50-image replay pool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CSV loss log and direction-specific weights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DE8C0-05D9-4C6D-8E5E-CCD2C650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00625"/>
            <a:ext cx="8667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1A26"/>
          </a:solidFill>
          <a:ln xmlns:a="http://schemas.openxmlformats.org/drawingml/2006/main" w="9525">
            <a:solidFill>
              <a:srgbClr val="87D6B0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7D6B0"/>
                </a:solidFill>
                <a:latin typeface="Arial"/>
                <a:ea typeface="Arial"/>
                <a:cs typeface="Arial"/>
              </a:rPr>
              <a:t>This application uses pretrained weights; it does not claim to have trained them.</a:t>
            </a:r>
          </a:p>
        </p:txBody>
      </p:sp>
    </p:spTree>
    <p:extLst>
      <p:ext uri="{BB962C8B-B14F-4D97-AF65-F5344CB8AC3E}">
        <p14:creationId xmlns:p14="http://schemas.microsoft.com/office/powerpoint/2010/main" val="9336457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C4324-35ED-4F6D-A583-2CE31618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D2886-EDC0-49F6-838D-B45C07BC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ImageLab AI application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14006-DF30-420C-8C16-177ACC18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382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Streamlit interface for the complete input → inference → result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2B5A6-B1F0-4D7B-9080-6E72F9B3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8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14222-45EB-4CE1-AE68-71C3C50E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ImageLab AI  ·  CA-2  ·  CS312B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B1310-FC5C-4ECA-8088-D74DB3BD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3A947-7D71-4481-A223-838E5B83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1A8FF"/>
                </a:solidFill>
                <a:latin typeface="Arial"/>
                <a:ea typeface="Arial"/>
                <a:cs typeface="Arial"/>
              </a:rPr>
              <a:t>Home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D6CE2-BF24-40BE-BF90-6D081FF2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2524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Project purpose and model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4DECC-DD7D-4DDF-B284-B95C60B1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809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39BFF"/>
                </a:solidFill>
                <a:latin typeface="Arial"/>
                <a:ea typeface="Arial"/>
                <a:cs typeface="Arial"/>
              </a:rPr>
              <a:t>Translate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AB4DA-CC68-4F77-84DF-F48F08F2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288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Upload → compare → download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D11CD-4185-4A87-8933-DBEB6253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7D6B0"/>
                </a:solidFill>
                <a:latin typeface="Arial"/>
                <a:ea typeface="Arial"/>
                <a:cs typeface="Arial"/>
              </a:rPr>
              <a:t>Gallery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1F77A-35E5-4EF6-BFEE-7A9611CE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288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Load small CC0 demo photos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B8C3A-F688-49A2-9C2D-9A738BB3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1A8FF"/>
                </a:solidFill>
                <a:latin typeface="Arial"/>
                <a:ea typeface="Arial"/>
                <a:cs typeface="Arial"/>
              </a:rPr>
              <a:t>Evaluation and theory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7363F-D9AA-4452-9302-02A5066D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4429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Shows the generated example and timing. MAE/PSNR appear only for a spatially aligned target.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B0A20-74DE-40E3-8676-95F25AB2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71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39BFF"/>
                </a:solidFill>
                <a:latin typeface="Arial"/>
                <a:ea typeface="Arial"/>
                <a:cs typeface="Arial"/>
              </a:rPr>
              <a:t>Model details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C4935-5AE4-4C1B-AD90-60D05E98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90975"/>
            <a:ext cx="4333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Framework, input size, device, checkpoint source, and pretrained/trained status.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BF104-41C8-448A-9324-7B792502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7D6B0"/>
                </a:solidFill>
                <a:latin typeface="Arial"/>
                <a:ea typeface="Arial"/>
                <a:cs typeface="Arial"/>
              </a:rPr>
              <a:t>Run:  python -m streamlit run app.py</a:t>
            </a:r>
          </a:p>
        </p:txBody>
      </p:sp>
    </p:spTree>
    <p:extLst>
      <p:ext uri="{BB962C8B-B14F-4D97-AF65-F5344CB8AC3E}">
        <p14:creationId xmlns:p14="http://schemas.microsoft.com/office/powerpoint/2010/main" val="6385134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1F8B1-C458-4FC9-8DD3-030926B2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151FC-0055-40F6-B3E1-80493230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Actual sample inference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47247-F8A5-4997-8F4F-58B0EB4F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382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Official pretrained Horse → Zebra generator · CPU inference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55F9D-3F30-4B51-B1AA-63CF6498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8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6F29E-0476-416B-AF08-028F6F75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ImageLab AI  ·  CA-2  ·  CS312B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2F6F7-19D4-4542-A1C0-B931E3A1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013CC-1594-4A63-9F1D-AE22AC1F4C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07d379e6444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1685925"/>
            <a:ext cx="4381500" cy="3286125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AE5EB-25FC-44CF-9987-FA3325DA9F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46bc279d34a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4200" y="1685925"/>
            <a:ext cx="4381500" cy="3286125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21C26-DA52-4C93-AC82-C1A0FD6D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INPUT · Horse in a pen.jpg · CC0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97F65-CC7B-45D6-A98A-E020B851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673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OUTPUT · pretrained CycleGAN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96C274-E114-40C7-9894-2D51E623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1043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7D6B0"/>
                </a:solidFill>
                <a:latin typeface="Arial"/>
                <a:ea typeface="Arial"/>
                <a:cs typeface="Arial"/>
              </a:rPr>
              <a:t>Inference: 0.632 s  ·  input/output: 1280 × 960  ·  generator input: 256 × 256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C4EA0-BCDE-4194-BBCF-5F76483A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6740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Single qualitative example; no aligned target was used, so MAE/PSNR are not reported.</a:t>
            </a:r>
          </a:p>
        </p:txBody>
      </p:sp>
    </p:spTree>
    <p:extLst>
      <p:ext uri="{BB962C8B-B14F-4D97-AF65-F5344CB8AC3E}">
        <p14:creationId xmlns:p14="http://schemas.microsoft.com/office/powerpoint/2010/main" val="11708445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6B63A-7BE1-4458-AF4B-834E0C96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81477-B638-4000-BAB8-D699B5D6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Limitations, risks, and responsible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140FF-414F-4F22-8F1B-42253872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382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A learned translation is an image synthesis result, not ground truth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4A641-E5DD-4840-A1CE-4E6A0E20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8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284C5-D04C-448C-B6D0-95370E10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ImageLab AI  ·  CA-2  ·  CS312B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DB06B-A989-4AC3-8388-32D9354A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DC463-D983-4BF6-8022-E0CC0D99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1A8FF"/>
                </a:solidFill>
                <a:latin typeface="Arial"/>
                <a:ea typeface="Arial"/>
                <a:cs typeface="Arial"/>
              </a:rPr>
              <a:t>Model limits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E2BEE-E71E-4AE7-827C-1602831D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Can add artifacts or alter details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May fail on unusual subjects or framing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Training domain limits generalization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No segmentation guarantee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6052B-B12E-4368-BC2C-D5137B7B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39BFF"/>
                </a:solidFill>
                <a:latin typeface="Arial"/>
                <a:ea typeface="Arial"/>
                <a:cs typeface="Arial"/>
              </a:rPr>
              <a:t>Responsible presentation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5B2ED-A897-470B-B11F-1C1C4641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Label generated images clearly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Do not present outputs as documentary evidence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Respect source-image rights</a:t>
            </a:r>
          </a:p>
          <a:p xmlns:a="http://schemas.openxmlformats.org/drawingml/2006/main">
            <a:pPr algn="l">
              <a:defRPr sz="172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Review bias and misuse risks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653BE-A59D-4D3D-830F-CB6CA3F6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87D6B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7D6B0"/>
                </a:solidFill>
                <a:latin typeface="Arial"/>
                <a:ea typeface="Arial"/>
                <a:cs typeface="Arial"/>
              </a:rPr>
              <a:t>The model is intended here for an educational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3950942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0EE58D-95A4-4230-B78C-49DC56AB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33937-EAB0-4064-B5E5-874B05BC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1F3F9"/>
                </a:solidFill>
                <a:latin typeface="Arial"/>
                <a:ea typeface="Arial"/>
                <a:cs typeface="Arial"/>
              </a:rPr>
              <a:t>Repository and viva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F2EC3-C968-4777-8D0B-EDC745A2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382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Project files include the runnable app, model code, training option, and documentation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2C0FD-9766-4B5F-AF68-F824C7E5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8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F6C1A-4075-4C6D-BB4E-009F79DC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ImageLab AI  ·  CA-2  ·  CS312B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FA23A-1178-4B41-892D-0FEE2D33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9F08E-06E2-4440-9193-87D7BF5C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71A8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1A8FF"/>
                </a:solidFill>
                <a:latin typeface="Arial"/>
                <a:ea typeface="Arial"/>
                <a:cs typeface="Arial"/>
              </a:rPr>
              <a:t>Start the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1C5BA-E95E-468A-A6B8-6F1324EC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5048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1  Create and activate a Python 3.11 virtual environment</a:t>
            </a:r>
          </a:p>
          <a:p xmlns:a="http://schemas.openxmlformats.org/drawingml/2006/main">
            <a: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2  Install requirements.txt</a:t>
            </a:r>
          </a:p>
          <a:p xmlns:a="http://schemas.openxmlformats.org/drawingml/2006/main">
            <a: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3  Download the official checkpoint</a:t>
            </a:r>
          </a:p>
          <a:p xmlns:a="http://schemas.openxmlformats.org/drawingml/2006/main">
            <a: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4  Run Streamlit and open localhost:8501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35346-1C3E-4E27-86DD-06815E41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B39B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39BFF"/>
                </a:solidFill>
                <a:latin typeface="Arial"/>
                <a:ea typeface="Arial"/>
                <a:cs typeface="Arial"/>
              </a:rPr>
              <a:t>Explain in the viva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0026F-0114-46E0-B164-18974758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4667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Why unpaired data needs cycle consistency</a:t>
            </a:r>
          </a:p>
          <a:p xmlns:a="http://schemas.openxmlformats.org/drawingml/2006/main">
            <a: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Two generators and two discriminators</a:t>
            </a:r>
          </a:p>
          <a:p xmlns:a="http://schemas.openxmlformats.org/drawingml/2006/main">
            <a: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Difference between pretrained inference and local training</a:t>
            </a:r>
          </a:p>
          <a:p xmlns:a="http://schemas.openxmlformats.org/drawingml/2006/main">
            <a:pPr algn="l">
              <a:defRPr sz="1575" b="0">
                <a:solidFill>
                  <a:srgbClr val="F1F3F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1F3F9"/>
                </a:solidFill>
                <a:latin typeface="Arial"/>
                <a:ea typeface="Arial"/>
                <a:cs typeface="Arial"/>
              </a:rPr>
              <a:t>Why MAE/PSNR need aligned targets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57119-BE3E-477C-85AB-DA789E4D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87D6B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7D6B0"/>
                </a:solidFill>
                <a:latin typeface="Arial"/>
                <a:ea typeface="Arial"/>
                <a:cs typeface="Arial"/>
              </a:rPr>
              <a:t>Source package: imagelab-ai-source.zip  ·  README.md contains setup, citations, dataset notes, and troubleshooting.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2E658-E020-4F3F-9BA9-F518B860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BB4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BB4C5"/>
                </a:solidFill>
                <a:latin typeface="Arial"/>
                <a:ea typeface="Arial"/>
                <a:cs typeface="Arial"/>
              </a:rPr>
              <a:t>Before Moodle submission: replace team fields and paste the public GitHub/Drive share URL.</a:t>
            </a:r>
          </a:p>
        </p:txBody>
      </p:sp>
    </p:spTree>
    <p:extLst>
      <p:ext uri="{BB962C8B-B14F-4D97-AF65-F5344CB8AC3E}">
        <p14:creationId xmlns:p14="http://schemas.microsoft.com/office/powerpoint/2010/main" val="855759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2026-10-29T04:13:03.0510000Z</dcterms:created>
  <dcterms:modified xsi:type="dcterms:W3CDTF">2026-10-29T04:13:03.0510000Z</dcterms:modified>
</coreProperties>
</file>